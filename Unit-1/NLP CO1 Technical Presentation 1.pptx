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86" r:id="rId5"/>
    <p:sldId id="259" r:id="rId6"/>
    <p:sldId id="284" r:id="rId7"/>
    <p:sldId id="262" r:id="rId8"/>
    <p:sldId id="285" r:id="rId9"/>
    <p:sldId id="271" r:id="rId1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viewProps" Target="view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presProps" Target="presProps.xml" /><Relationship Id="rId5" Type="http://schemas.openxmlformats.org/officeDocument/2006/relationships/slide" Target="slides/slide4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ableStyles" Target="tableStyle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theme" Target="../theme/theme1.xml" /><Relationship Id="rId5" Type="http://schemas.openxmlformats.org/officeDocument/2006/relationships/slideLayout" Target="../slideLayouts/slideLayout5.xml" /><Relationship Id="rId4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98857" y="268386"/>
            <a:ext cx="7394285" cy="9036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99179" y="1561353"/>
            <a:ext cx="9953625" cy="32492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329491" y="6466777"/>
            <a:ext cx="217804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 /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 /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4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 /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4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5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 /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4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 /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4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 /><Relationship Id="rId2" Type="http://schemas.openxmlformats.org/officeDocument/2006/relationships/image" Target="../media/image2.jpg" /><Relationship Id="rId1" Type="http://schemas.openxmlformats.org/officeDocument/2006/relationships/slideLayout" Target="../slideLayouts/slideLayout5.xml" /><Relationship Id="rId4" Type="http://schemas.openxmlformats.org/officeDocument/2006/relationships/image" Target="../media/image4.jp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93847" y="4953000"/>
            <a:ext cx="4572000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200">
                <a:solidFill>
                  <a:srgbClr val="0C0C0C"/>
                </a:solidFill>
                <a:latin typeface="Times New Roman"/>
                <a:cs typeface="Times New Roman"/>
              </a:rPr>
              <a:t>N. Vinay Yadav (192472061)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4331" y="475651"/>
            <a:ext cx="1135116" cy="134288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47555" y="328508"/>
            <a:ext cx="1520113" cy="134288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49237" y="4735045"/>
            <a:ext cx="2997835" cy="7643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>
                <a:latin typeface="Times New Roman"/>
                <a:cs typeface="Times New Roman"/>
              </a:rPr>
              <a:t>Guided</a:t>
            </a:r>
            <a:r>
              <a:rPr sz="2400" b="1" spc="-114">
                <a:latin typeface="Times New Roman"/>
                <a:cs typeface="Times New Roman"/>
              </a:rPr>
              <a:t> </a:t>
            </a:r>
            <a:r>
              <a:rPr sz="2400" b="1" spc="-25">
                <a:latin typeface="Times New Roman"/>
                <a:cs typeface="Times New Roman"/>
              </a:rPr>
              <a:t>By</a:t>
            </a:r>
            <a:endParaRPr lang="en-US" sz="2400" b="1" spc="-25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400" spc="-25">
                <a:latin typeface="Times New Roman"/>
                <a:cs typeface="Times New Roman"/>
              </a:rPr>
              <a:t>Dr. Ram Kumar M</a:t>
            </a:r>
            <a:endParaRPr lang="en-US" sz="2400" spc="-25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89138" y="1559028"/>
            <a:ext cx="9953625" cy="2156360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R="374650" algn="ctr">
              <a:lnSpc>
                <a:spcPct val="100000"/>
              </a:lnSpc>
              <a:spcBef>
                <a:spcPts val="1055"/>
              </a:spcBef>
            </a:pPr>
            <a:r>
              <a:rPr lang="en-US" sz="2600" b="1" spc="-40">
                <a:latin typeface="Times New Roman"/>
                <a:cs typeface="Times New Roman"/>
              </a:rPr>
              <a:t>Technical </a:t>
            </a:r>
            <a:r>
              <a:rPr lang="en-IN" sz="2600" b="1" spc="-10">
                <a:latin typeface="Times New Roman"/>
                <a:cs typeface="Times New Roman"/>
              </a:rPr>
              <a:t>presentation</a:t>
            </a:r>
            <a:endParaRPr sz="2600" b="1">
              <a:latin typeface="Times New Roman"/>
              <a:cs typeface="Times New Roman"/>
            </a:endParaRPr>
          </a:p>
          <a:p>
            <a:pPr marL="3175" algn="ctr">
              <a:lnSpc>
                <a:spcPct val="100000"/>
              </a:lnSpc>
              <a:spcBef>
                <a:spcPts val="3465"/>
              </a:spcBef>
              <a:tabLst>
                <a:tab pos="1028065" algn="l"/>
              </a:tabLst>
            </a:pPr>
            <a:r>
              <a:rPr lang="en-IN" sz="2400" b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Comparative Analysis of Inflectional and Derivational </a:t>
            </a:r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Morphology</a:t>
            </a:r>
          </a:p>
          <a:p>
            <a:pPr marL="3175" algn="ctr">
              <a:lnSpc>
                <a:spcPct val="100000"/>
              </a:lnSpc>
              <a:spcBef>
                <a:spcPts val="3465"/>
              </a:spcBef>
              <a:tabLst>
                <a:tab pos="1028065" algn="l"/>
              </a:tabLst>
            </a:pPr>
            <a:r>
              <a:rPr lang="en-US" sz="2300" b="1" spc="40">
                <a:latin typeface="Times New Roman" panose="02020603050405020304" pitchFamily="18" charset="0"/>
                <a:cs typeface="Times New Roman" panose="02020603050405020304" pitchFamily="18" charset="0"/>
              </a:rPr>
              <a:t>DSA0304</a:t>
            </a:r>
            <a:r>
              <a:rPr sz="2300" b="1" spc="4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300" b="1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sz="2300" b="1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</a:t>
            </a:r>
            <a:endParaRPr sz="23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876837" y="397890"/>
            <a:ext cx="40170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5"/>
              <a:t>SIMATS</a:t>
            </a:r>
            <a:r>
              <a:rPr sz="2800" spc="-125"/>
              <a:t> </a:t>
            </a:r>
            <a:r>
              <a:rPr sz="2800" spc="-10"/>
              <a:t>ENGINEERING</a:t>
            </a:r>
            <a:endParaRPr sz="2800"/>
          </a:p>
        </p:txBody>
      </p:sp>
      <p:sp>
        <p:nvSpPr>
          <p:cNvPr id="8" name="object 8"/>
          <p:cNvSpPr txBox="1"/>
          <p:nvPr/>
        </p:nvSpPr>
        <p:spPr>
          <a:xfrm>
            <a:off x="3334269" y="828675"/>
            <a:ext cx="510222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23315" marR="5080" indent="-1111250">
              <a:lnSpc>
                <a:spcPct val="100000"/>
              </a:lnSpc>
              <a:spcBef>
                <a:spcPts val="100"/>
              </a:spcBef>
            </a:pPr>
            <a:r>
              <a:rPr sz="2000" b="1" spc="-55">
                <a:latin typeface="Times New Roman"/>
                <a:cs typeface="Times New Roman"/>
              </a:rPr>
              <a:t>SAVEETHA</a:t>
            </a:r>
            <a:r>
              <a:rPr sz="2000" b="1" spc="-110">
                <a:latin typeface="Times New Roman"/>
                <a:cs typeface="Times New Roman"/>
              </a:rPr>
              <a:t> </a:t>
            </a:r>
            <a:r>
              <a:rPr sz="2000" b="1" spc="-10">
                <a:latin typeface="Times New Roman"/>
                <a:cs typeface="Times New Roman"/>
              </a:rPr>
              <a:t>INSTITUTE</a:t>
            </a:r>
            <a:r>
              <a:rPr sz="2000" b="1">
                <a:latin typeface="Times New Roman"/>
                <a:cs typeface="Times New Roman"/>
              </a:rPr>
              <a:t> OF</a:t>
            </a:r>
            <a:r>
              <a:rPr sz="2000" b="1" spc="-75">
                <a:latin typeface="Times New Roman"/>
                <a:cs typeface="Times New Roman"/>
              </a:rPr>
              <a:t> </a:t>
            </a:r>
            <a:r>
              <a:rPr sz="2000" b="1" spc="-25">
                <a:latin typeface="Times New Roman"/>
                <a:cs typeface="Times New Roman"/>
              </a:rPr>
              <a:t>MEDICAL</a:t>
            </a:r>
            <a:r>
              <a:rPr sz="2000" b="1" spc="-220">
                <a:latin typeface="Times New Roman"/>
                <a:cs typeface="Times New Roman"/>
              </a:rPr>
              <a:t> </a:t>
            </a:r>
            <a:r>
              <a:rPr sz="2000" b="1" spc="-25">
                <a:latin typeface="Times New Roman"/>
                <a:cs typeface="Times New Roman"/>
              </a:rPr>
              <a:t>AND TECHNICAL</a:t>
            </a:r>
            <a:r>
              <a:rPr sz="2000" b="1" spc="-55">
                <a:latin typeface="Times New Roman"/>
                <a:cs typeface="Times New Roman"/>
              </a:rPr>
              <a:t> </a:t>
            </a:r>
            <a:r>
              <a:rPr sz="2000" b="1" spc="-10">
                <a:latin typeface="Times New Roman"/>
                <a:cs typeface="Times New Roman"/>
              </a:rPr>
              <a:t>SCIENCES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51F48D-280E-5009-2743-39D6DCA33DFC}"/>
              </a:ext>
            </a:extLst>
          </p:cNvPr>
          <p:cNvSpPr txBox="1"/>
          <p:nvPr/>
        </p:nvSpPr>
        <p:spPr>
          <a:xfrm>
            <a:off x="7659510" y="4390431"/>
            <a:ext cx="19880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7655" rIns="0" bIns="0" rtlCol="0">
            <a:spAutoFit/>
          </a:bodyPr>
          <a:lstStyle/>
          <a:p>
            <a:pPr marL="2590800">
              <a:lnSpc>
                <a:spcPct val="100000"/>
              </a:lnSpc>
              <a:spcBef>
                <a:spcPts val="100"/>
              </a:spcBef>
            </a:pPr>
            <a:r>
              <a:rPr spc="-10"/>
              <a:t>ABSTRACT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1135116" cy="134288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31" y="191626"/>
            <a:ext cx="1520113" cy="134288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2</a:t>
            </a:fld>
            <a:endParaRPr spc="-25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2732B8-0D91-199A-D467-3F6478D05E55}"/>
              </a:ext>
            </a:extLst>
          </p:cNvPr>
          <p:cNvSpPr txBox="1"/>
          <p:nvPr/>
        </p:nvSpPr>
        <p:spPr>
          <a:xfrm>
            <a:off x="784806" y="1885540"/>
            <a:ext cx="10622385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600">
                <a:latin typeface="Times New Roman" panose="02020603050405020304" pitchFamily="18" charset="0"/>
                <a:cs typeface="Times New Roman" panose="02020603050405020304" pitchFamily="18" charset="0"/>
              </a:rPr>
              <a:t>Morphology is the study of word structure and word formation. 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endParaRPr lang="en-IN" sz="2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600">
                <a:latin typeface="Times New Roman" panose="02020603050405020304" pitchFamily="18" charset="0"/>
                <a:cs typeface="Times New Roman" panose="02020603050405020304" pitchFamily="18" charset="0"/>
              </a:rPr>
              <a:t>Inflectional morphology explains grammatical variations in words. 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endParaRPr lang="en-IN" sz="2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600">
                <a:latin typeface="Times New Roman" panose="02020603050405020304" pitchFamily="18" charset="0"/>
                <a:cs typeface="Times New Roman" panose="02020603050405020304" pitchFamily="18" charset="0"/>
              </a:rPr>
              <a:t>Derivational morphology explains how new words are formed.</a:t>
            </a:r>
          </a:p>
          <a:p>
            <a:pPr lvl="0" algn="just"/>
            <a:r>
              <a:rPr lang="en-IN" sz="2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600">
                <a:latin typeface="Times New Roman" panose="02020603050405020304" pitchFamily="18" charset="0"/>
                <a:cs typeface="Times New Roman" panose="02020603050405020304" pitchFamily="18" charset="0"/>
              </a:rPr>
              <a:t>Both techniques play an important role in Natural Language Processing. 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endParaRPr lang="en-IN" sz="2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60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compares their characteristics, applications, and limitations. </a:t>
            </a:r>
          </a:p>
          <a:p>
            <a:pPr algn="just"/>
            <a:endParaRPr lang="en-US" sz="2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4EBE7E-0F84-531A-2E65-4C28E052D621}"/>
              </a:ext>
            </a:extLst>
          </p:cNvPr>
          <p:cNvSpPr txBox="1"/>
          <p:nvPr/>
        </p:nvSpPr>
        <p:spPr>
          <a:xfrm>
            <a:off x="7924800" y="1534509"/>
            <a:ext cx="1868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7655" rIns="0" bIns="0" rtlCol="0">
            <a:spAutoFit/>
          </a:bodyPr>
          <a:lstStyle/>
          <a:p>
            <a:pPr marL="2409825">
              <a:lnSpc>
                <a:spcPct val="100000"/>
              </a:lnSpc>
              <a:spcBef>
                <a:spcPts val="100"/>
              </a:spcBef>
            </a:pPr>
            <a:r>
              <a:rPr spc="-10"/>
              <a:t>OBJECTIVES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1135116" cy="134288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31" y="191626"/>
            <a:ext cx="1520113" cy="134288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3</a:t>
            </a:fld>
            <a:endParaRPr spc="-25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D6C550-D3E4-90EF-FD7E-4D7EF56400B1}"/>
              </a:ext>
            </a:extLst>
          </p:cNvPr>
          <p:cNvSpPr txBox="1"/>
          <p:nvPr/>
        </p:nvSpPr>
        <p:spPr>
          <a:xfrm>
            <a:off x="1475183" y="1905000"/>
            <a:ext cx="8832867" cy="43704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the concept of morphology in NLP.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I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>
                <a:latin typeface="Times New Roman" panose="02020603050405020304" pitchFamily="18" charset="0"/>
                <a:cs typeface="Times New Roman" panose="02020603050405020304" pitchFamily="18" charset="0"/>
              </a:rPr>
              <a:t>To study inflectional morphology and its characteristics.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I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>
                <a:latin typeface="Times New Roman" panose="02020603050405020304" pitchFamily="18" charset="0"/>
                <a:cs typeface="Times New Roman" panose="02020603050405020304" pitchFamily="18" charset="0"/>
              </a:rPr>
              <a:t>To study derivational morphology and its characteristics.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>
                <a:latin typeface="Times New Roman" panose="02020603050405020304" pitchFamily="18" charset="0"/>
                <a:cs typeface="Times New Roman" panose="02020603050405020304" pitchFamily="18" charset="0"/>
              </a:rPr>
              <a:t>To compare their differences using examples.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I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>
                <a:latin typeface="Times New Roman" panose="02020603050405020304" pitchFamily="18" charset="0"/>
                <a:cs typeface="Times New Roman" panose="02020603050405020304" pitchFamily="18" charset="0"/>
              </a:rPr>
              <a:t>To examine their applications in NLP systems.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sz="2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2407BA37-7771-1D8D-1D49-A6E79E6560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788" y="0"/>
            <a:ext cx="10518709" cy="899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6AE5C0E-47B6-0FF8-27F0-E761869664E9}"/>
              </a:ext>
            </a:extLst>
          </p:cNvPr>
          <p:cNvSpPr txBox="1"/>
          <p:nvPr/>
        </p:nvSpPr>
        <p:spPr>
          <a:xfrm>
            <a:off x="3886200" y="1219200"/>
            <a:ext cx="37257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  <a:endParaRPr lang="en-IN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44124B-5C7E-BD53-44EA-6F176ED53CF6}"/>
              </a:ext>
            </a:extLst>
          </p:cNvPr>
          <p:cNvSpPr txBox="1"/>
          <p:nvPr/>
        </p:nvSpPr>
        <p:spPr>
          <a:xfrm>
            <a:off x="457200" y="1742420"/>
            <a:ext cx="95250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Identify base words, prefixes, and suffixes through morphological analysis.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Analyze grammatical variations using inflectional morphology.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Identify new word formation using derivational morphology.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Compare both techniques based on meaning, grammatical category, and word formation.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 morphological differences using Python and understand their applications in NLP.</a:t>
            </a:r>
            <a:endParaRPr lang="en-IN" sz="2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5772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98857" y="268386"/>
            <a:ext cx="7394285" cy="813200"/>
          </a:xfrm>
          <a:prstGeom prst="rect">
            <a:avLst/>
          </a:prstGeom>
        </p:spPr>
        <p:txBody>
          <a:bodyPr vert="horz" wrap="square" lIns="0" tIns="317655" rIns="0" bIns="0" rtlCol="0">
            <a:spAutoFit/>
          </a:bodyPr>
          <a:lstStyle/>
          <a:p>
            <a:pPr marL="1373505">
              <a:lnSpc>
                <a:spcPct val="100000"/>
              </a:lnSpc>
              <a:spcBef>
                <a:spcPts val="100"/>
              </a:spcBef>
            </a:pPr>
            <a:r>
              <a:rPr lang="en-IN"/>
              <a:t>Inflectional Morphology</a:t>
            </a:r>
            <a:endParaRPr spc="-4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1135116" cy="134288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31" y="191626"/>
            <a:ext cx="1520113" cy="134288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5</a:t>
            </a:fld>
            <a:endParaRPr spc="-25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8E52B3-D45C-E55E-4BE3-CB627139DB72}"/>
              </a:ext>
            </a:extLst>
          </p:cNvPr>
          <p:cNvSpPr txBox="1"/>
          <p:nvPr/>
        </p:nvSpPr>
        <p:spPr>
          <a:xfrm>
            <a:off x="836194" y="1564767"/>
            <a:ext cx="10519609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: Inflectional morphology studies changes in word forms that express grammatical information without creating a new dictionary word.</a:t>
            </a:r>
          </a:p>
          <a:p>
            <a:endParaRPr lang="en-US" sz="2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Indicates tense, number, person, or grammatical case.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Usually preserves the word's basic meaning and grammatical category.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Uses grammatical endings or other inflectional changes.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Helps identify grammatical relationships in sentences.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Supports grammatical analysis in NLP systems.</a:t>
            </a:r>
            <a:endParaRPr lang="en-IN" sz="2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31605FF-B22C-C7FA-1711-49B3BDE6F8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7700734"/>
              </p:ext>
            </p:extLst>
          </p:nvPr>
        </p:nvGraphicFramePr>
        <p:xfrm>
          <a:off x="941407" y="4888234"/>
          <a:ext cx="9953625" cy="1828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317875">
                  <a:extLst>
                    <a:ext uri="{9D8B030D-6E8A-4147-A177-3AD203B41FA5}">
                      <a16:colId xmlns:a16="http://schemas.microsoft.com/office/drawing/2014/main" val="3140042215"/>
                    </a:ext>
                  </a:extLst>
                </a:gridCol>
                <a:gridCol w="3317875">
                  <a:extLst>
                    <a:ext uri="{9D8B030D-6E8A-4147-A177-3AD203B41FA5}">
                      <a16:colId xmlns:a16="http://schemas.microsoft.com/office/drawing/2014/main" val="473145869"/>
                    </a:ext>
                  </a:extLst>
                </a:gridCol>
                <a:gridCol w="3317875">
                  <a:extLst>
                    <a:ext uri="{9D8B030D-6E8A-4147-A177-3AD203B41FA5}">
                      <a16:colId xmlns:a16="http://schemas.microsoft.com/office/drawing/2014/main" val="28928615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Base Word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Inflected</a:t>
                      </a:r>
                      <a:r>
                        <a:rPr lang="en-IN"/>
                        <a:t> </a:t>
                      </a:r>
                      <a:r>
                        <a:rPr lang="en-IN" b="1"/>
                        <a:t>Word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Function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84982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Play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Played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Past tense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8315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Plural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7580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Walk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Walking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Progressive form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096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Book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Books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Plural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382152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E0605-6FE9-010D-0FA5-8A4AB8BCC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9CCDAFCB-B077-2655-10E7-1EB3B19CC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787" y="992617"/>
            <a:ext cx="10518709" cy="650909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IN" sz="4000"/>
              <a:t>Derivational Morphology</a:t>
            </a:r>
            <a:endParaRPr lang="en-US" altLang="en-US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4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E71AD9EC-46A7-B819-9690-DCBBA5FD1F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788" y="0"/>
            <a:ext cx="10518709" cy="899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E3DE364-5F94-2BB0-C5D4-5AF033393A3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186AA5-EAFB-4559-9AFE-DEA9AE8593BA}" type="datetimeFigureOut">
              <a:rPr lang="en-IN" smtClean="0"/>
              <a:pPr>
                <a:defRPr/>
              </a:pPr>
              <a:t>09-10-2026</a:t>
            </a:fld>
            <a:endParaRPr lang="en-US"/>
          </a:p>
        </p:txBody>
      </p:sp>
      <p:sp>
        <p:nvSpPr>
          <p:cNvPr id="5127" name="Slide Number Placeholder 7">
            <a:extLst>
              <a:ext uri="{FF2B5EF4-FFF2-40B4-BE49-F238E27FC236}">
                <a16:creationId xmlns:a16="http://schemas.microsoft.com/office/drawing/2014/main" id="{9BD78F61-4BE3-C73A-6AE3-D154F71036A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83F8D0D4-98C5-4EDF-91E3-63D358A9D142}" type="slidenum">
              <a:rPr lang="en-IN" smtClean="0"/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2" name="Rectangle 8">
            <a:extLst>
              <a:ext uri="{FF2B5EF4-FFF2-40B4-BE49-F238E27FC236}">
                <a16:creationId xmlns:a16="http://schemas.microsoft.com/office/drawing/2014/main" id="{0750F55F-DB50-3A64-35DB-5F89A874C2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6787" y="6288229"/>
            <a:ext cx="11935213" cy="569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1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159CCB56-47E3-C4CD-CFBA-AE4CB0B7B5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787" y="1575427"/>
            <a:ext cx="10972800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600" b="1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: Derivational morphology studies the formation of new words from existing words through prefixes, suffixes, and other word-formation processes.</a:t>
            </a:r>
          </a:p>
          <a:p>
            <a:pPr algn="just"/>
            <a:endParaRPr lang="en-US" sz="2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Creates new words from existing roots or base words.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May change the meaning of a word.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May change the grammatical category.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Expands vocabulary.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Helps NLP systems analyze word relationships.</a:t>
            </a:r>
            <a:endParaRPr lang="en-IN" sz="2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388252D-73D8-A997-E649-C7D83BCF6E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9639317"/>
              </p:ext>
            </p:extLst>
          </p:nvPr>
        </p:nvGraphicFramePr>
        <p:xfrm>
          <a:off x="727787" y="4950983"/>
          <a:ext cx="9953625" cy="1828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317875">
                  <a:extLst>
                    <a:ext uri="{9D8B030D-6E8A-4147-A177-3AD203B41FA5}">
                      <a16:colId xmlns:a16="http://schemas.microsoft.com/office/drawing/2014/main" val="2879515246"/>
                    </a:ext>
                  </a:extLst>
                </a:gridCol>
                <a:gridCol w="3317875">
                  <a:extLst>
                    <a:ext uri="{9D8B030D-6E8A-4147-A177-3AD203B41FA5}">
                      <a16:colId xmlns:a16="http://schemas.microsoft.com/office/drawing/2014/main" val="996537609"/>
                    </a:ext>
                  </a:extLst>
                </a:gridCol>
                <a:gridCol w="3317875">
                  <a:extLst>
                    <a:ext uri="{9D8B030D-6E8A-4147-A177-3AD203B41FA5}">
                      <a16:colId xmlns:a16="http://schemas.microsoft.com/office/drawing/2014/main" val="6517130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Base Word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Derived Word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Change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07726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Happy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Unhappy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Meaning changes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9678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Teacher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Verb to noun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61326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Kind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Kindness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Adjective to noun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09656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Develop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Development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Verb to noun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780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5181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52800" y="700569"/>
            <a:ext cx="7394285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054860" marR="5080" indent="-1664970">
              <a:lnSpc>
                <a:spcPct val="100000"/>
              </a:lnSpc>
              <a:spcBef>
                <a:spcPts val="90"/>
              </a:spcBef>
            </a:pPr>
            <a:r>
              <a:rPr lang="en-IN" sz="2800"/>
              <a:t>Comparative Analysis</a:t>
            </a:r>
            <a:endParaRPr sz="28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1135116" cy="134288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31" y="191626"/>
            <a:ext cx="1520113" cy="134288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7</a:t>
            </a:fld>
            <a:endParaRPr spc="-25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A576E3F-C046-E5F6-3795-95BC233CE0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8325835"/>
              </p:ext>
            </p:extLst>
          </p:nvPr>
        </p:nvGraphicFramePr>
        <p:xfrm>
          <a:off x="1098550" y="1585912"/>
          <a:ext cx="10102851" cy="412909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367617">
                  <a:extLst>
                    <a:ext uri="{9D8B030D-6E8A-4147-A177-3AD203B41FA5}">
                      <a16:colId xmlns:a16="http://schemas.microsoft.com/office/drawing/2014/main" val="381281215"/>
                    </a:ext>
                  </a:extLst>
                </a:gridCol>
                <a:gridCol w="3367617">
                  <a:extLst>
                    <a:ext uri="{9D8B030D-6E8A-4147-A177-3AD203B41FA5}">
                      <a16:colId xmlns:a16="http://schemas.microsoft.com/office/drawing/2014/main" val="3720666387"/>
                    </a:ext>
                  </a:extLst>
                </a:gridCol>
                <a:gridCol w="3367617">
                  <a:extLst>
                    <a:ext uri="{9D8B030D-6E8A-4147-A177-3AD203B41FA5}">
                      <a16:colId xmlns:a16="http://schemas.microsoft.com/office/drawing/2014/main" val="1890617852"/>
                    </a:ext>
                  </a:extLst>
                </a:gridCol>
              </a:tblGrid>
              <a:tr h="4718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Inflectional Morphology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Derivational Morphology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831918"/>
                  </a:ext>
                </a:extLst>
              </a:tr>
              <a:tr h="8258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Main purpose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Expresses grammatical information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Forms new words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4194001"/>
                  </a:ext>
                </a:extLst>
              </a:tr>
              <a:tr h="4718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Word meaning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Usually preserves core meaning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May change 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1000174"/>
                  </a:ext>
                </a:extLst>
              </a:tr>
              <a:tr h="4718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Word 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Usually remains unchanged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May change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515941"/>
                  </a:ext>
                </a:extLst>
              </a:tr>
              <a:tr h="4718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Function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Grammatical variation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Vocabulary expansion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4031931"/>
                  </a:ext>
                </a:extLst>
              </a:tr>
              <a:tr h="4718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Play → Played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Teach → Teacher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0198514"/>
                  </a:ext>
                </a:extLst>
              </a:tr>
              <a:tr h="4718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Cat → Cats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Happy → Unhappy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1729576"/>
                  </a:ext>
                </a:extLst>
              </a:tr>
              <a:tr h="4718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NLP application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Grammatical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Word formation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369015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DF0D3-2E67-8F15-3412-86080007B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D36AF02F-719F-F23B-091F-9F33F1D13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787" y="1199518"/>
            <a:ext cx="10518709" cy="650909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IN" sz="4000"/>
              <a:t>CONCLUSION AND FUTURE SCOPE</a:t>
            </a:r>
            <a:endParaRPr lang="en-US" altLang="en-US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4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7652061B-6053-C74B-EBF5-4890DF126E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788" y="0"/>
            <a:ext cx="10518709" cy="899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07A513C-56B4-7469-E7D1-F337D69091B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186AA5-EAFB-4559-9AFE-DEA9AE8593BA}" type="datetimeFigureOut">
              <a:rPr lang="en-IN" smtClean="0"/>
              <a:pPr>
                <a:defRPr/>
              </a:pPr>
              <a:t>09-10-2026</a:t>
            </a:fld>
            <a:endParaRPr lang="en-US"/>
          </a:p>
        </p:txBody>
      </p:sp>
      <p:sp>
        <p:nvSpPr>
          <p:cNvPr id="5127" name="Slide Number Placeholder 7">
            <a:extLst>
              <a:ext uri="{FF2B5EF4-FFF2-40B4-BE49-F238E27FC236}">
                <a16:creationId xmlns:a16="http://schemas.microsoft.com/office/drawing/2014/main" id="{71C3764E-FDB6-46A3-985B-2C0E8E0C29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83F8D0D4-98C5-4EDF-91E3-63D358A9D142}" type="slidenum">
              <a:rPr lang="en-IN" smtClean="0"/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2" name="Rectangle 8">
            <a:extLst>
              <a:ext uri="{FF2B5EF4-FFF2-40B4-BE49-F238E27FC236}">
                <a16:creationId xmlns:a16="http://schemas.microsoft.com/office/drawing/2014/main" id="{CC5EBA35-15D0-6FEA-D618-6FCE6C69C33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6787" y="6288229"/>
            <a:ext cx="11935213" cy="569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1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1E1FA20B-0341-62CC-E840-CCA63E751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004550"/>
            <a:ext cx="11125200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600">
                <a:latin typeface="Times New Roman" panose="02020603050405020304" pitchFamily="18" charset="0"/>
                <a:cs typeface="Times New Roman" panose="02020603050405020304" pitchFamily="18" charset="0"/>
              </a:rPr>
              <a:t>Morphology is essential for understanding word structure in NLP.</a:t>
            </a:r>
          </a:p>
          <a:p>
            <a:pPr lvl="0"/>
            <a:r>
              <a:rPr lang="en-IN" sz="2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600">
                <a:latin typeface="Times New Roman" panose="02020603050405020304" pitchFamily="18" charset="0"/>
                <a:cs typeface="Times New Roman" panose="02020603050405020304" pitchFamily="18" charset="0"/>
              </a:rPr>
              <a:t>Inflectional morphology explains grammatical variations.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IN" sz="2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600">
                <a:latin typeface="Times New Roman" panose="02020603050405020304" pitchFamily="18" charset="0"/>
                <a:cs typeface="Times New Roman" panose="02020603050405020304" pitchFamily="18" charset="0"/>
              </a:rPr>
              <a:t>Derivational morphology explains the formation of new words.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IN" sz="2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600">
                <a:latin typeface="Times New Roman" panose="02020603050405020304" pitchFamily="18" charset="0"/>
                <a:cs typeface="Times New Roman" panose="02020603050405020304" pitchFamily="18" charset="0"/>
              </a:rPr>
              <a:t>Both techniques support language analysis and text processing.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IN" sz="2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600">
                <a:latin typeface="Times New Roman" panose="02020603050405020304" pitchFamily="18" charset="0"/>
                <a:cs typeface="Times New Roman" panose="02020603050405020304" pitchFamily="18" charset="0"/>
              </a:rPr>
              <a:t>Their differences are important when designing NLP applications.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sz="2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1544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62286" y="393171"/>
            <a:ext cx="1520113" cy="134288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600" y="501648"/>
            <a:ext cx="1135116" cy="134288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26102" y="2057874"/>
            <a:ext cx="7858920" cy="373155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9</a:t>
            </a:fld>
            <a:endParaRPr spc="-25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SIMATS ENGINEERING</vt:lpstr>
      <vt:lpstr>ABSTRACT</vt:lpstr>
      <vt:lpstr>OBJECTIVES</vt:lpstr>
      <vt:lpstr>PowerPoint Presentation</vt:lpstr>
      <vt:lpstr>Inflectional Morphology</vt:lpstr>
      <vt:lpstr>Derivational Morphology</vt:lpstr>
      <vt:lpstr>Comparative Analysis</vt:lpstr>
      <vt:lpstr>CONCLUSION AND FUTURE SCOPE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EEA0117 - Capstone Project PPT template.pptx</dc:title>
  <dc:creator>lenovo</dc:creator>
  <cp:lastModifiedBy>Vinay Yadav</cp:lastModifiedBy>
  <cp:revision>2</cp:revision>
  <dcterms:created xsi:type="dcterms:W3CDTF">2026-01-20T15:50:19Z</dcterms:created>
  <dcterms:modified xsi:type="dcterms:W3CDTF">2026-10-09T07:22:26Z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2026-01-20T00:00:00Z</vt:filetime>
  </property>
  <property fmtid="{D5CDD505-2E9C-101B-9397-08002B2CF9AE}" pid="3" name="Creator">
    <vt:lpwstr>Google</vt:lpwstr>
  </property>
  <property fmtid="{D5CDD505-2E9C-101B-9397-08002B2CF9AE}" pid="4" name="LastSaved">
    <vt:filetime>2026-01-20T00:00:00Z</vt:filetime>
  </property>
</Properties>
</file>